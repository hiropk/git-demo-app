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330" r:id="rId5"/>
    <p:sldId id="319" r:id="rId6"/>
    <p:sldId id="320" r:id="rId7"/>
    <p:sldId id="316" r:id="rId8"/>
    <p:sldId id="322" r:id="rId9"/>
    <p:sldId id="321" r:id="rId10"/>
    <p:sldId id="324" r:id="rId11"/>
    <p:sldId id="317" r:id="rId12"/>
    <p:sldId id="318" r:id="rId13"/>
    <p:sldId id="325" r:id="rId14"/>
    <p:sldId id="326" r:id="rId15"/>
    <p:sldId id="314"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19"/>
    <p:restoredTop sz="95878"/>
  </p:normalViewPr>
  <p:slideViewPr>
    <p:cSldViewPr snapToGrid="0" showGuides="1">
      <p:cViewPr varScale="1">
        <p:scale>
          <a:sx n="122" d="100"/>
          <a:sy n="122" d="100"/>
        </p:scale>
        <p:origin x="768" y="200"/>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E9C8BA-F62D-3FF9-7518-2BAA2AAED01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D8B3A51-B68C-68C3-6A5F-A1A525138F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027BF7E-F52D-8AA8-782A-46BE92F51D78}"/>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A0966131-FED2-F9EE-A062-407F986B8D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DA3E8D-DA18-B892-C46E-0F89CE87C504}"/>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pic>
        <p:nvPicPr>
          <p:cNvPr id="7" name="Picture 10">
            <a:extLst>
              <a:ext uri="{FF2B5EF4-FFF2-40B4-BE49-F238E27FC236}">
                <a16:creationId xmlns:a16="http://schemas.microsoft.com/office/drawing/2014/main" id="{FFFA1409-0474-6B5E-3FA5-911071B4DB23}"/>
              </a:ext>
            </a:extLst>
          </p:cNvPr>
          <p:cNvPicPr>
            <a:picLocks noChangeAspect="1"/>
          </p:cNvPicPr>
          <p:nvPr userDrawn="1"/>
        </p:nvPicPr>
        <p:blipFill>
          <a:blip r:embed="rId2"/>
          <a:stretch>
            <a:fillRect/>
          </a:stretch>
        </p:blipFill>
        <p:spPr>
          <a:xfrm>
            <a:off x="9448800" y="5397335"/>
            <a:ext cx="2743200" cy="1460665"/>
          </a:xfrm>
          <a:prstGeom prst="rect">
            <a:avLst/>
          </a:prstGeom>
        </p:spPr>
      </p:pic>
      <p:sp>
        <p:nvSpPr>
          <p:cNvPr id="8" name="正方形/長方形 7">
            <a:extLst>
              <a:ext uri="{FF2B5EF4-FFF2-40B4-BE49-F238E27FC236}">
                <a16:creationId xmlns:a16="http://schemas.microsoft.com/office/drawing/2014/main" id="{CF7AFABF-93E1-CDA7-CF82-77339A3F2D92}"/>
              </a:ext>
            </a:extLst>
          </p:cNvPr>
          <p:cNvSpPr/>
          <p:nvPr userDrawn="1"/>
        </p:nvSpPr>
        <p:spPr>
          <a:xfrm>
            <a:off x="1524000" y="1812616"/>
            <a:ext cx="9144000" cy="2656361"/>
          </a:xfrm>
          <a:prstGeom prst="rect">
            <a:avLst/>
          </a:prstGeom>
          <a:solidFill>
            <a:schemeClr val="accent1">
              <a:alpha val="9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37448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5DE22E-4418-0495-EBFA-0FE3ADC9C5E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CE3AAF9-AE7E-49BE-F6D5-06A226376DC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350EC4-1D10-B431-1FF7-5F29B3BC3496}"/>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CD225427-A8D0-F11B-7773-75EED3AEA7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927BE8-4B53-2993-9BB1-86AC2E9D77DD}"/>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1779831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0F0B09-F1F9-C4E5-9776-BD434C1E53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21196F-1862-F59D-4563-080ADB3351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FB2A37F-930A-38FB-8CA0-FC70EE17BF6A}"/>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534F0803-35BF-B27F-2CCA-F509D72F72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DB63381-D6BB-0445-A2A6-56FE1E69F258}"/>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1159704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1123DC-268F-BD32-652E-823BACE9A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D9F0B4-17AD-FAD6-F813-74B5CCD740D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6BF56E5-2762-4388-EAA4-59320119B40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A1E027E-2980-92FE-0280-8C98E3A0A79E}"/>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6" name="フッター プレースホルダー 5">
            <a:extLst>
              <a:ext uri="{FF2B5EF4-FFF2-40B4-BE49-F238E27FC236}">
                <a16:creationId xmlns:a16="http://schemas.microsoft.com/office/drawing/2014/main" id="{3A0BD6CE-0113-9C17-4732-01E6A51D7CB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C5C9E18-3B36-73C1-4FA4-5D202A3CEA1B}"/>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466178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BA2747-0102-4B83-5697-A9B20734F34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220B3AB-74F8-BBFC-1F89-3B5854946A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78E1F9D-B56D-321A-1567-224BB6C4844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400C847-A804-4D2A-4050-33DB85511B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2EE04F-0E33-8948-149D-E30047F0E6A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78F76E9-C8E0-E71B-FF23-4FE4D6650FE8}"/>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8" name="フッター プレースホルダー 7">
            <a:extLst>
              <a:ext uri="{FF2B5EF4-FFF2-40B4-BE49-F238E27FC236}">
                <a16:creationId xmlns:a16="http://schemas.microsoft.com/office/drawing/2014/main" id="{F1C3B18E-995C-E130-2FCD-BAB6B0F47B3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2BB3B35-D34E-31CA-8E63-AE2BD1846245}"/>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4156419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E8816A-AA10-5940-8657-989BA66A67C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5D737FF-0238-6446-4A68-09FAA0DDFBA6}"/>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4" name="フッター プレースホルダー 3">
            <a:extLst>
              <a:ext uri="{FF2B5EF4-FFF2-40B4-BE49-F238E27FC236}">
                <a16:creationId xmlns:a16="http://schemas.microsoft.com/office/drawing/2014/main" id="{41F1AD77-B63B-39BF-CA8D-28A7B7CDD54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75D1720-4FB7-42DF-107F-27E67FFE5F0C}"/>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3085502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B3C021C-3C4A-A3E3-81A9-A1F5428FFF40}"/>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3" name="フッター プレースホルダー 2">
            <a:extLst>
              <a:ext uri="{FF2B5EF4-FFF2-40B4-BE49-F238E27FC236}">
                <a16:creationId xmlns:a16="http://schemas.microsoft.com/office/drawing/2014/main" id="{8072B9B7-56D4-A6C9-42A4-8492C33A540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E9CA18A-16A7-4A50-12F9-55DEBE630367}"/>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pic>
        <p:nvPicPr>
          <p:cNvPr id="6" name="図 5" descr="挿絵 が含まれている画像&#10;&#10;自動的に生成された説明">
            <a:extLst>
              <a:ext uri="{FF2B5EF4-FFF2-40B4-BE49-F238E27FC236}">
                <a16:creationId xmlns:a16="http://schemas.microsoft.com/office/drawing/2014/main" id="{A0ADF0D1-A8A9-61AF-2412-1DEAE0667C27}"/>
              </a:ext>
            </a:extLst>
          </p:cNvPr>
          <p:cNvPicPr>
            <a:picLocks noChangeAspect="1"/>
          </p:cNvPicPr>
          <p:nvPr userDrawn="1"/>
        </p:nvPicPr>
        <p:blipFill>
          <a:blip r:embed="rId2"/>
          <a:stretch>
            <a:fillRect/>
          </a:stretch>
        </p:blipFill>
        <p:spPr>
          <a:xfrm>
            <a:off x="10138784" y="4804784"/>
            <a:ext cx="2053216" cy="2053216"/>
          </a:xfrm>
          <a:prstGeom prst="rect">
            <a:avLst/>
          </a:prstGeom>
        </p:spPr>
      </p:pic>
      <p:sp>
        <p:nvSpPr>
          <p:cNvPr id="7" name="正方形/長方形 6">
            <a:extLst>
              <a:ext uri="{FF2B5EF4-FFF2-40B4-BE49-F238E27FC236}">
                <a16:creationId xmlns:a16="http://schemas.microsoft.com/office/drawing/2014/main" id="{24320DF2-F347-1E0E-2542-E74D1E5F3048}"/>
              </a:ext>
            </a:extLst>
          </p:cNvPr>
          <p:cNvSpPr/>
          <p:nvPr userDrawn="1"/>
        </p:nvSpPr>
        <p:spPr>
          <a:xfrm>
            <a:off x="236668" y="0"/>
            <a:ext cx="161366" cy="892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7494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BB7481-C522-798C-8661-71297440482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5293F7-6C2A-1C5F-021B-468C3C471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B294D2D-4F29-9A3E-7688-2DDC6AACBA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7862DD6-473F-B299-8F0B-8C616E02AFC9}"/>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6" name="フッター プレースホルダー 5">
            <a:extLst>
              <a:ext uri="{FF2B5EF4-FFF2-40B4-BE49-F238E27FC236}">
                <a16:creationId xmlns:a16="http://schemas.microsoft.com/office/drawing/2014/main" id="{3F8A59C7-63AB-E095-9887-F710D6C06C9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6CF1D3A-1D8D-914C-5866-C4061745B7A5}"/>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307055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18316F-AD25-CF74-F6E0-7F9717761D4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74A2B22-B07B-535E-E772-F4D89D4E6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3FD7152-0543-1A3A-4C6B-234E8B430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5774FB5-1231-E085-37B6-0F8D34259A59}"/>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6" name="フッター プレースホルダー 5">
            <a:extLst>
              <a:ext uri="{FF2B5EF4-FFF2-40B4-BE49-F238E27FC236}">
                <a16:creationId xmlns:a16="http://schemas.microsoft.com/office/drawing/2014/main" id="{344DECB5-19AC-38B4-1EA5-E09892BCAB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6DD136-DEF3-3C65-C7DA-95022AFA2E00}"/>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1543082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6EE86A-1406-AE45-6A70-DBD41BC7592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37BA85D-563F-DAC7-484C-EAE9021376E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E86BC32-99AD-C22E-E8F1-51A25D51DFB0}"/>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EFFF10E1-BF76-1D9F-BD36-CD596A9971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6FF1F2-9443-1AD9-C555-D6960393C1D4}"/>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2406203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DF4B831-CBEE-FA5F-19D6-92CC6E00E72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AEB17AD-FEAF-FD65-FC69-CB5AD22E611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EB6132-53CD-082D-F381-9DA633996EDE}"/>
              </a:ext>
            </a:extLst>
          </p:cNvPr>
          <p:cNvSpPr>
            <a:spLocks noGrp="1"/>
          </p:cNvSpPr>
          <p:nvPr>
            <p:ph type="dt" sz="half" idx="10"/>
          </p:nvPr>
        </p:nvSpPr>
        <p:spPr/>
        <p:txBody>
          <a:body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2932D7A5-9B4A-6534-AB74-3734387ECC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7CCFCA5-4EBE-42BB-A53E-944943F92049}"/>
              </a:ext>
            </a:extLst>
          </p:cNvPr>
          <p:cNvSpPr>
            <a:spLocks noGrp="1"/>
          </p:cNvSpPr>
          <p:nvPr>
            <p:ph type="sldNum" sz="quarter" idx="12"/>
          </p:nvPr>
        </p:nvSpPr>
        <p:spPr/>
        <p:txBody>
          <a:body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123188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EFADCB5-DA6A-E28C-0FB8-4CEDB28745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767A447-DD0A-2FFE-063B-4329F5F23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7EDB6A-97A5-B4F1-36D7-1EF0083F1F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A9842D-3B44-E545-94A1-B01FE7FB29B3}" type="datetimeFigureOut">
              <a:rPr kumimoji="1" lang="ja-JP" altLang="en-US" smtClean="0"/>
              <a:t>2026/8/18</a:t>
            </a:fld>
            <a:endParaRPr kumimoji="1" lang="ja-JP" altLang="en-US"/>
          </a:p>
        </p:txBody>
      </p:sp>
      <p:sp>
        <p:nvSpPr>
          <p:cNvPr id="5" name="フッター プレースホルダー 4">
            <a:extLst>
              <a:ext uri="{FF2B5EF4-FFF2-40B4-BE49-F238E27FC236}">
                <a16:creationId xmlns:a16="http://schemas.microsoft.com/office/drawing/2014/main" id="{33D5CB2A-E855-176F-97D8-0814329943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D4233BA-30D8-F9E8-91E4-1052D2A3B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BF531-F2B7-AE46-B38D-4A6B5DCC9030}" type="slidenum">
              <a:rPr kumimoji="1" lang="ja-JP" altLang="en-US" smtClean="0"/>
              <a:t>‹#›</a:t>
            </a:fld>
            <a:endParaRPr kumimoji="1" lang="ja-JP" altLang="en-US"/>
          </a:p>
        </p:txBody>
      </p:sp>
    </p:spTree>
    <p:extLst>
      <p:ext uri="{BB962C8B-B14F-4D97-AF65-F5344CB8AC3E}">
        <p14:creationId xmlns:p14="http://schemas.microsoft.com/office/powerpoint/2010/main" val="498939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backlog.com/ja/git-tutorial/intro/01/"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B8CB2B-FF03-D664-CF85-8EBCD1F94C09}"/>
              </a:ext>
            </a:extLst>
          </p:cNvPr>
          <p:cNvSpPr>
            <a:spLocks noGrp="1"/>
          </p:cNvSpPr>
          <p:nvPr>
            <p:ph type="ctrTitle"/>
          </p:nvPr>
        </p:nvSpPr>
        <p:spPr>
          <a:xfrm>
            <a:off x="1524000" y="1810852"/>
            <a:ext cx="9144000" cy="2387600"/>
          </a:xfrm>
        </p:spPr>
        <p:txBody>
          <a:bodyPr anchor="ctr">
            <a:normAutofit fontScale="90000"/>
          </a:bodyPr>
          <a:lstStyle/>
          <a:p>
            <a:pPr>
              <a:lnSpc>
                <a:spcPct val="150000"/>
              </a:lnSpc>
            </a:pPr>
            <a:r>
              <a:rPr kumimoji="1" lang="en-US" altLang="ja-JP" dirty="0">
                <a:solidFill>
                  <a:schemeClr val="bg1"/>
                </a:solidFill>
              </a:rPr>
              <a:t>Git</a:t>
            </a:r>
            <a:r>
              <a:rPr kumimoji="1" lang="ja-JP" altLang="en-US">
                <a:solidFill>
                  <a:schemeClr val="bg1"/>
                </a:solidFill>
              </a:rPr>
              <a:t>の基礎</a:t>
            </a:r>
            <a:br>
              <a:rPr kumimoji="1" lang="en-US" altLang="ja-JP" dirty="0">
                <a:solidFill>
                  <a:schemeClr val="bg1"/>
                </a:solidFill>
              </a:rPr>
            </a:br>
            <a:r>
              <a:rPr kumimoji="1" lang="en-US" altLang="ja-JP" dirty="0">
                <a:solidFill>
                  <a:schemeClr val="bg1"/>
                </a:solidFill>
              </a:rPr>
              <a:t>~</a:t>
            </a:r>
            <a:r>
              <a:rPr kumimoji="1" lang="ja-JP" altLang="en-US">
                <a:solidFill>
                  <a:schemeClr val="bg1"/>
                </a:solidFill>
              </a:rPr>
              <a:t>サル先生</a:t>
            </a:r>
            <a:r>
              <a:rPr lang="ja-JP" altLang="en-US">
                <a:solidFill>
                  <a:schemeClr val="bg1"/>
                </a:solidFill>
              </a:rPr>
              <a:t>に</a:t>
            </a:r>
            <a:r>
              <a:rPr kumimoji="1" lang="ja-JP" altLang="en-US">
                <a:solidFill>
                  <a:schemeClr val="bg1"/>
                </a:solidFill>
              </a:rPr>
              <a:t>学ぶ</a:t>
            </a:r>
            <a:r>
              <a:rPr kumimoji="1" lang="en-US" altLang="ja-JP" dirty="0">
                <a:solidFill>
                  <a:schemeClr val="bg1"/>
                </a:solidFill>
              </a:rPr>
              <a:t>~</a:t>
            </a:r>
            <a:endParaRPr kumimoji="1" lang="ja-JP" altLang="en-US">
              <a:solidFill>
                <a:schemeClr val="bg1"/>
              </a:solidFill>
            </a:endParaRPr>
          </a:p>
        </p:txBody>
      </p:sp>
      <p:sp>
        <p:nvSpPr>
          <p:cNvPr id="5" name="テキスト ボックス 4">
            <a:extLst>
              <a:ext uri="{FF2B5EF4-FFF2-40B4-BE49-F238E27FC236}">
                <a16:creationId xmlns:a16="http://schemas.microsoft.com/office/drawing/2014/main" id="{22AA154A-7150-45AF-A26C-D4764FA8287C}"/>
              </a:ext>
            </a:extLst>
          </p:cNvPr>
          <p:cNvSpPr txBox="1"/>
          <p:nvPr/>
        </p:nvSpPr>
        <p:spPr>
          <a:xfrm>
            <a:off x="8172226" y="4744122"/>
            <a:ext cx="3704216" cy="830997"/>
          </a:xfrm>
          <a:prstGeom prst="rect">
            <a:avLst/>
          </a:prstGeom>
          <a:noFill/>
        </p:spPr>
        <p:txBody>
          <a:bodyPr wrap="square" rtlCol="0">
            <a:spAutoFit/>
          </a:bodyPr>
          <a:lstStyle/>
          <a:p>
            <a:r>
              <a:rPr kumimoji="1" lang="ja-JP" altLang="en-US" sz="2400"/>
              <a:t>所属：システム開発１</a:t>
            </a:r>
            <a:r>
              <a:rPr kumimoji="1" lang="en-US" altLang="ja-JP" sz="2400" dirty="0"/>
              <a:t>G</a:t>
            </a:r>
          </a:p>
          <a:p>
            <a:r>
              <a:rPr lang="ja-JP" altLang="en-US" sz="2400"/>
              <a:t>名前：加納</a:t>
            </a:r>
            <a:r>
              <a:rPr lang="en-US" altLang="ja-JP" sz="2400" dirty="0"/>
              <a:t> </a:t>
            </a:r>
            <a:r>
              <a:rPr lang="ja-JP" altLang="en-US" sz="2400"/>
              <a:t>寛之</a:t>
            </a:r>
            <a:endParaRPr kumimoji="1" lang="ja-JP" altLang="en-US" sz="2400"/>
          </a:p>
        </p:txBody>
      </p:sp>
      <p:sp>
        <p:nvSpPr>
          <p:cNvPr id="6" name="テキスト ボックス 5">
            <a:extLst>
              <a:ext uri="{FF2B5EF4-FFF2-40B4-BE49-F238E27FC236}">
                <a16:creationId xmlns:a16="http://schemas.microsoft.com/office/drawing/2014/main" id="{EAC305D7-1F38-76E4-AEA6-ED8C2D8B832E}"/>
              </a:ext>
            </a:extLst>
          </p:cNvPr>
          <p:cNvSpPr txBox="1"/>
          <p:nvPr/>
        </p:nvSpPr>
        <p:spPr>
          <a:xfrm>
            <a:off x="-1" y="87853"/>
            <a:ext cx="5400339" cy="830997"/>
          </a:xfrm>
          <a:prstGeom prst="rect">
            <a:avLst/>
          </a:prstGeom>
          <a:noFill/>
        </p:spPr>
        <p:txBody>
          <a:bodyPr wrap="square" rtlCol="0">
            <a:spAutoFit/>
          </a:bodyPr>
          <a:lstStyle/>
          <a:p>
            <a:r>
              <a:rPr lang="en-US" altLang="ja-JP" sz="2400" dirty="0"/>
              <a:t>2026</a:t>
            </a:r>
            <a:r>
              <a:rPr lang="ja-JP" altLang="en-US" sz="2400"/>
              <a:t>年度</a:t>
            </a:r>
            <a:r>
              <a:rPr lang="en-US" altLang="ja-JP" sz="2400" dirty="0"/>
              <a:t> NaCl </a:t>
            </a:r>
            <a:r>
              <a:rPr lang="ja-JP" altLang="en-US" sz="2400"/>
              <a:t>夏季インターンシップ</a:t>
            </a:r>
            <a:endParaRPr lang="en-US" altLang="ja-JP" sz="2400" dirty="0"/>
          </a:p>
          <a:p>
            <a:r>
              <a:rPr kumimoji="1" lang="ja-JP" altLang="en-US" sz="2400"/>
              <a:t>講義パート</a:t>
            </a:r>
            <a:endParaRPr kumimoji="1" lang="en-US" altLang="ja-JP" sz="2400" dirty="0"/>
          </a:p>
        </p:txBody>
      </p:sp>
    </p:spTree>
    <p:extLst>
      <p:ext uri="{BB962C8B-B14F-4D97-AF65-F5344CB8AC3E}">
        <p14:creationId xmlns:p14="http://schemas.microsoft.com/office/powerpoint/2010/main" val="302360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33645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ja-JP" sz="2400" dirty="0"/>
              <a:t>Git</a:t>
            </a:r>
            <a:r>
              <a:rPr kumimoji="1" lang="ja-JP" altLang="en-US" sz="2400"/>
              <a:t>とは、分散型バージョン管理システムの一つ。</a:t>
            </a:r>
            <a:endParaRPr kumimoji="1" lang="en-US" altLang="ja-JP" sz="2400" dirty="0"/>
          </a:p>
          <a:p>
            <a:pPr marL="800100" lvl="1" indent="-342900">
              <a:lnSpc>
                <a:spcPct val="150000"/>
              </a:lnSpc>
              <a:buFont typeface="システムフォント（レギュラー）"/>
              <a:buChar char="⎻"/>
            </a:pPr>
            <a:r>
              <a:rPr kumimoji="1" lang="ja-JP" altLang="en-US" sz="2400"/>
              <a:t>ざっくり言い換えると、</a:t>
            </a:r>
            <a:r>
              <a:rPr kumimoji="1" lang="ja-JP" altLang="en-US" sz="2400" u="sng">
                <a:uFill>
                  <a:solidFill>
                    <a:srgbClr val="FF0000"/>
                  </a:solidFill>
                </a:uFill>
              </a:rPr>
              <a:t>チームでシステムを開発する際にチーム間で　　　　　　　　　ソースコードを共有・編集するための</a:t>
            </a:r>
            <a:r>
              <a:rPr kumimoji="1" lang="ja-JP" altLang="en-US" sz="2400" u="sng">
                <a:solidFill>
                  <a:srgbClr val="FF0000"/>
                </a:solidFill>
              </a:rPr>
              <a:t>仕組み</a:t>
            </a:r>
            <a:r>
              <a:rPr kumimoji="1" lang="ja-JP" altLang="en-US" sz="2400"/>
              <a:t>のこと。</a:t>
            </a:r>
            <a:endParaRPr lang="en-US" altLang="ja-JP" sz="2400" dirty="0"/>
          </a:p>
          <a:p>
            <a:pPr marL="800100" lvl="1" indent="-342900">
              <a:lnSpc>
                <a:spcPct val="150000"/>
              </a:lnSpc>
              <a:buFont typeface="システムフォント（レギュラー）"/>
              <a:buChar char="⎻"/>
            </a:pPr>
            <a:r>
              <a:rPr kumimoji="1" lang="ja-JP" altLang="en-US" sz="2400"/>
              <a:t>チーム開発を行う上で避けては通れない必須ツールです。</a:t>
            </a:r>
            <a:endParaRPr lang="en-US" altLang="ja-JP" sz="2400" dirty="0"/>
          </a:p>
          <a:p>
            <a:pPr marL="342900" indent="-342900">
              <a:lnSpc>
                <a:spcPct val="150000"/>
              </a:lnSpc>
              <a:buFont typeface="Arial" panose="020B0604020202020204" pitchFamily="34" charset="0"/>
              <a:buChar char="•"/>
            </a:pPr>
            <a:r>
              <a:rPr lang="ja-JP" altLang="en-US" sz="2400"/>
              <a:t>サル先生の</a:t>
            </a:r>
            <a:r>
              <a:rPr lang="en-US" altLang="ja-JP" sz="2400" dirty="0"/>
              <a:t>Git</a:t>
            </a:r>
            <a:r>
              <a:rPr lang="ja-JP" altLang="en-US" sz="2400"/>
              <a:t>入門を教材に、</a:t>
            </a:r>
            <a:r>
              <a:rPr lang="en-US" altLang="ja-JP" sz="2400" dirty="0"/>
              <a:t>Git</a:t>
            </a:r>
            <a:r>
              <a:rPr lang="ja-JP" altLang="en-US" sz="2400"/>
              <a:t>って何？を解消していきましょう。</a:t>
            </a:r>
            <a:endParaRPr lang="en-US" altLang="ja-JP" sz="2400" dirty="0"/>
          </a:p>
          <a:p>
            <a:pPr marL="800100" lvl="1" indent="-342900">
              <a:lnSpc>
                <a:spcPct val="150000"/>
              </a:lnSpc>
              <a:buFont typeface="システムフォント（レギュラー）"/>
              <a:buChar char="⎻"/>
            </a:pPr>
            <a:r>
              <a:rPr lang="en-US" altLang="ja-JP" sz="2400" dirty="0"/>
              <a:t>https://</a:t>
            </a:r>
            <a:r>
              <a:rPr lang="en-US" altLang="ja-JP" sz="2400" dirty="0" err="1"/>
              <a:t>backlog.com</a:t>
            </a:r>
            <a:r>
              <a:rPr lang="en-US" altLang="ja-JP" sz="2400" dirty="0"/>
              <a:t>/ja/git-tutorial/intro/01/</a:t>
            </a:r>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en-US" altLang="ja-JP" sz="4400" dirty="0"/>
              <a:t>Git</a:t>
            </a:r>
            <a:r>
              <a:rPr kumimoji="1" lang="ja-JP" altLang="en-US" sz="4400"/>
              <a:t>って何？</a:t>
            </a:r>
          </a:p>
        </p:txBody>
      </p:sp>
    </p:spTree>
    <p:extLst>
      <p:ext uri="{BB962C8B-B14F-4D97-AF65-F5344CB8AC3E}">
        <p14:creationId xmlns:p14="http://schemas.microsoft.com/office/powerpoint/2010/main" val="48138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0969420" cy="2256515"/>
          </a:xfrm>
          <a:prstGeom prst="rect">
            <a:avLst/>
          </a:prstGeom>
          <a:noFill/>
        </p:spPr>
        <p:txBody>
          <a:bodyPr wrap="square" numCol="1" rtlCol="0">
            <a:spAutoFit/>
          </a:bodyPr>
          <a:lstStyle/>
          <a:p>
            <a:pPr marL="457200" indent="-457200">
              <a:lnSpc>
                <a:spcPct val="150000"/>
              </a:lnSpc>
              <a:buFont typeface="+mj-lt"/>
              <a:buAutoNum type="arabicPeriod"/>
            </a:pPr>
            <a:r>
              <a:rPr lang="en-US" altLang="ja-JP" sz="2400" dirty="0"/>
              <a:t>Git</a:t>
            </a:r>
            <a:r>
              <a:rPr lang="ja-JP" altLang="en-US" sz="2400"/>
              <a:t>を使ったバージョン管理</a:t>
            </a:r>
            <a:endParaRPr lang="en-US" altLang="ja-JP" sz="2400" dirty="0"/>
          </a:p>
          <a:p>
            <a:pPr marL="457200" indent="-457200">
              <a:lnSpc>
                <a:spcPct val="150000"/>
              </a:lnSpc>
              <a:buFont typeface="+mj-lt"/>
              <a:buAutoNum type="arabicPeriod"/>
            </a:pPr>
            <a:r>
              <a:rPr lang="ja-JP" altLang="en-US" sz="2400"/>
              <a:t>履歴を管理するリポジトリ</a:t>
            </a:r>
            <a:endParaRPr kumimoji="1" lang="en-US" altLang="ja-JP" sz="2400" dirty="0"/>
          </a:p>
          <a:p>
            <a:pPr marL="457200" indent="-457200">
              <a:lnSpc>
                <a:spcPct val="150000"/>
              </a:lnSpc>
              <a:buFont typeface="+mj-lt"/>
              <a:buAutoNum type="arabicPeriod"/>
            </a:pPr>
            <a:r>
              <a:rPr lang="ja-JP" altLang="en-US" sz="2400"/>
              <a:t>変更を記録するコミット</a:t>
            </a:r>
            <a:endParaRPr lang="en-US" altLang="ja-JP" sz="2400" dirty="0"/>
          </a:p>
          <a:p>
            <a:pPr marL="457200" indent="-457200">
              <a:lnSpc>
                <a:spcPct val="150000"/>
              </a:lnSpc>
              <a:buFont typeface="+mj-lt"/>
              <a:buAutoNum type="arabicPeriod"/>
            </a:pPr>
            <a:r>
              <a:rPr lang="ja-JP" altLang="en-US" sz="2400"/>
              <a:t>ワークツリーとインデックス</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ja-JP" altLang="en-US" sz="4400"/>
              <a:t>本日の流れ</a:t>
            </a:r>
          </a:p>
        </p:txBody>
      </p:sp>
    </p:spTree>
    <p:extLst>
      <p:ext uri="{BB962C8B-B14F-4D97-AF65-F5344CB8AC3E}">
        <p14:creationId xmlns:p14="http://schemas.microsoft.com/office/powerpoint/2010/main" val="787167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11485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みなさんはファイルを編集前の状態に戻したいとき、どのようにしてますか？</a:t>
            </a:r>
            <a:endParaRPr lang="en-US" altLang="ja-JP" sz="2400" dirty="0"/>
          </a:p>
          <a:p>
            <a:pPr marL="800100" lvl="1" indent="-342900">
              <a:lnSpc>
                <a:spcPct val="150000"/>
              </a:lnSpc>
              <a:buFont typeface="システムフォント（レギュラー）"/>
              <a:buChar char="⎻"/>
            </a:pPr>
            <a:r>
              <a:rPr lang="ja-JP" altLang="en-US" sz="2400"/>
              <a:t>最も簡単なのは、編集前のファイルをコピーしておくこと</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en-US" altLang="ja-JP" sz="4400" dirty="0"/>
              <a:t>Git</a:t>
            </a:r>
            <a:r>
              <a:rPr kumimoji="1" lang="ja-JP" altLang="en-US" sz="4400"/>
              <a:t>を使ったバージョン管理</a:t>
            </a:r>
          </a:p>
        </p:txBody>
      </p:sp>
      <p:pic>
        <p:nvPicPr>
          <p:cNvPr id="4" name="図 3" descr="テキスト&#10;&#10;自動的に生成された説明">
            <a:extLst>
              <a:ext uri="{FF2B5EF4-FFF2-40B4-BE49-F238E27FC236}">
                <a16:creationId xmlns:a16="http://schemas.microsoft.com/office/drawing/2014/main" id="{789301AD-A562-786C-5EB3-AD414955D99B}"/>
              </a:ext>
            </a:extLst>
          </p:cNvPr>
          <p:cNvPicPr>
            <a:picLocks noChangeAspect="1"/>
          </p:cNvPicPr>
          <p:nvPr/>
        </p:nvPicPr>
        <p:blipFill>
          <a:blip r:embed="rId2"/>
          <a:stretch>
            <a:fillRect/>
          </a:stretch>
        </p:blipFill>
        <p:spPr>
          <a:xfrm>
            <a:off x="3961468" y="2226015"/>
            <a:ext cx="4300166" cy="2766189"/>
          </a:xfrm>
          <a:prstGeom prst="rect">
            <a:avLst/>
          </a:prstGeom>
        </p:spPr>
      </p:pic>
      <p:sp>
        <p:nvSpPr>
          <p:cNvPr id="5" name="円形吹き出し 4">
            <a:extLst>
              <a:ext uri="{FF2B5EF4-FFF2-40B4-BE49-F238E27FC236}">
                <a16:creationId xmlns:a16="http://schemas.microsoft.com/office/drawing/2014/main" id="{91E78F8A-857E-7959-7213-13018D08EABC}"/>
              </a:ext>
            </a:extLst>
          </p:cNvPr>
          <p:cNvSpPr/>
          <p:nvPr/>
        </p:nvSpPr>
        <p:spPr>
          <a:xfrm>
            <a:off x="1111827" y="2226016"/>
            <a:ext cx="2849641" cy="1202984"/>
          </a:xfrm>
          <a:prstGeom prst="wedgeEllipseCallout">
            <a:avLst>
              <a:gd name="adj1" fmla="val 56480"/>
              <a:gd name="adj2" fmla="val 4049"/>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自分でコピーする</a:t>
            </a:r>
            <a:endParaRPr lang="en-US" altLang="ja-JP" dirty="0">
              <a:solidFill>
                <a:schemeClr val="tx1"/>
              </a:solidFill>
            </a:endParaRPr>
          </a:p>
          <a:p>
            <a:pPr algn="ctr"/>
            <a:r>
              <a:rPr lang="ja-JP" altLang="en-US">
                <a:solidFill>
                  <a:schemeClr val="tx1"/>
                </a:solidFill>
              </a:rPr>
              <a:t>のは大変</a:t>
            </a:r>
            <a:endParaRPr kumimoji="1" lang="ja-JP" altLang="en-US">
              <a:solidFill>
                <a:schemeClr val="tx1"/>
              </a:solidFill>
            </a:endParaRPr>
          </a:p>
        </p:txBody>
      </p:sp>
      <p:sp>
        <p:nvSpPr>
          <p:cNvPr id="6" name="円形吹き出し 5">
            <a:extLst>
              <a:ext uri="{FF2B5EF4-FFF2-40B4-BE49-F238E27FC236}">
                <a16:creationId xmlns:a16="http://schemas.microsoft.com/office/drawing/2014/main" id="{D50D0B12-E86F-0002-360A-3F9FB0A0003A}"/>
              </a:ext>
            </a:extLst>
          </p:cNvPr>
          <p:cNvSpPr/>
          <p:nvPr/>
        </p:nvSpPr>
        <p:spPr>
          <a:xfrm>
            <a:off x="145474" y="3789220"/>
            <a:ext cx="3667058" cy="1202984"/>
          </a:xfrm>
          <a:prstGeom prst="wedgeEllipseCallout">
            <a:avLst>
              <a:gd name="adj1" fmla="val 56480"/>
              <a:gd name="adj2" fmla="val 4049"/>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どのファイルが最新？</a:t>
            </a:r>
            <a:endParaRPr lang="en-US" altLang="ja-JP" dirty="0">
              <a:solidFill>
                <a:schemeClr val="tx1"/>
              </a:solidFill>
            </a:endParaRPr>
          </a:p>
        </p:txBody>
      </p:sp>
      <p:sp>
        <p:nvSpPr>
          <p:cNvPr id="8" name="円形吹き出し 7">
            <a:extLst>
              <a:ext uri="{FF2B5EF4-FFF2-40B4-BE49-F238E27FC236}">
                <a16:creationId xmlns:a16="http://schemas.microsoft.com/office/drawing/2014/main" id="{7492CEEC-1A04-63BA-BD9A-C3AD4FE495DB}"/>
              </a:ext>
            </a:extLst>
          </p:cNvPr>
          <p:cNvSpPr/>
          <p:nvPr/>
        </p:nvSpPr>
        <p:spPr>
          <a:xfrm>
            <a:off x="7886295" y="2653772"/>
            <a:ext cx="4160231" cy="1550456"/>
          </a:xfrm>
          <a:prstGeom prst="wedgeEllipseCallout">
            <a:avLst>
              <a:gd name="adj1" fmla="val -58847"/>
              <a:gd name="adj2" fmla="val 10959"/>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チームで共有して作業しているファイルは、誰がいつ何を編集したかわからない</a:t>
            </a:r>
            <a:endParaRPr lang="en-US" altLang="ja-JP" dirty="0">
              <a:solidFill>
                <a:schemeClr val="tx1"/>
              </a:solidFill>
            </a:endParaRPr>
          </a:p>
        </p:txBody>
      </p:sp>
    </p:spTree>
    <p:extLst>
      <p:ext uri="{BB962C8B-B14F-4D97-AF65-F5344CB8AC3E}">
        <p14:creationId xmlns:p14="http://schemas.microsoft.com/office/powerpoint/2010/main" val="751459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417A72-E36E-8AE2-6B27-3E296E73A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2076450"/>
            <a:ext cx="6007100" cy="2705100"/>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11485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みなさんはファイルを編集前の状態に戻したいとき、どのようにしてますか？</a:t>
            </a:r>
            <a:endParaRPr lang="en-US" altLang="ja-JP" sz="2400" dirty="0"/>
          </a:p>
          <a:p>
            <a:pPr marL="800100" lvl="1" indent="-342900">
              <a:lnSpc>
                <a:spcPct val="150000"/>
              </a:lnSpc>
              <a:buFont typeface="システムフォント（レギュラー）"/>
              <a:buChar char="⎻"/>
            </a:pPr>
            <a:r>
              <a:rPr lang="ja-JP" altLang="en-US" sz="2400"/>
              <a:t>最も簡単なのは、編集前のファイルをコピーしておくこと</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en-US" altLang="ja-JP" sz="4400" dirty="0"/>
              <a:t>Git</a:t>
            </a:r>
            <a:r>
              <a:rPr kumimoji="1" lang="ja-JP" altLang="en-US" sz="4400"/>
              <a:t>を使ったバージョン管理</a:t>
            </a:r>
          </a:p>
        </p:txBody>
      </p:sp>
      <p:sp>
        <p:nvSpPr>
          <p:cNvPr id="8" name="円形吹き出し 7">
            <a:extLst>
              <a:ext uri="{FF2B5EF4-FFF2-40B4-BE49-F238E27FC236}">
                <a16:creationId xmlns:a16="http://schemas.microsoft.com/office/drawing/2014/main" id="{7492CEEC-1A04-63BA-BD9A-C3AD4FE495DB}"/>
              </a:ext>
            </a:extLst>
          </p:cNvPr>
          <p:cNvSpPr/>
          <p:nvPr/>
        </p:nvSpPr>
        <p:spPr>
          <a:xfrm>
            <a:off x="7715246" y="2247423"/>
            <a:ext cx="4160231" cy="1550456"/>
          </a:xfrm>
          <a:prstGeom prst="wedgeEllipseCallout">
            <a:avLst>
              <a:gd name="adj1" fmla="val -51604"/>
              <a:gd name="adj2" fmla="val 46479"/>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rPr>
              <a:t>同時に編集してしまった</a:t>
            </a:r>
            <a:endParaRPr lang="en-US" altLang="ja-JP" dirty="0">
              <a:solidFill>
                <a:schemeClr val="tx1"/>
              </a:solidFill>
            </a:endParaRPr>
          </a:p>
          <a:p>
            <a:pPr algn="ctr"/>
            <a:r>
              <a:rPr lang="ja-JP" altLang="en-US">
                <a:solidFill>
                  <a:schemeClr val="tx1"/>
                </a:solidFill>
              </a:rPr>
              <a:t>ために、衝突が起きて変更内容が消えてしまう。</a:t>
            </a:r>
            <a:endParaRPr lang="en-US" altLang="ja-JP" dirty="0">
              <a:solidFill>
                <a:schemeClr val="tx1"/>
              </a:solidFill>
            </a:endParaRPr>
          </a:p>
        </p:txBody>
      </p:sp>
      <p:sp>
        <p:nvSpPr>
          <p:cNvPr id="3" name="正方形/長方形 2">
            <a:extLst>
              <a:ext uri="{FF2B5EF4-FFF2-40B4-BE49-F238E27FC236}">
                <a16:creationId xmlns:a16="http://schemas.microsoft.com/office/drawing/2014/main" id="{D0C9088B-1E69-9B64-418C-E2CC0BFFC4AB}"/>
              </a:ext>
            </a:extLst>
          </p:cNvPr>
          <p:cNvSpPr/>
          <p:nvPr/>
        </p:nvSpPr>
        <p:spPr>
          <a:xfrm>
            <a:off x="1766133" y="5458538"/>
            <a:ext cx="8659733" cy="1024932"/>
          </a:xfrm>
          <a:prstGeom prst="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solidFill>
                  <a:schemeClr val="tx1"/>
                </a:solidFill>
              </a:rPr>
              <a:t>Git</a:t>
            </a:r>
            <a:r>
              <a:rPr kumimoji="1" lang="ja-JP" altLang="en-US" sz="3600">
                <a:solidFill>
                  <a:schemeClr val="tx1"/>
                </a:solidFill>
              </a:rPr>
              <a:t>を使用することでこれらの問題を解決</a:t>
            </a:r>
          </a:p>
        </p:txBody>
      </p:sp>
      <p:sp>
        <p:nvSpPr>
          <p:cNvPr id="9" name="三角形 8">
            <a:extLst>
              <a:ext uri="{FF2B5EF4-FFF2-40B4-BE49-F238E27FC236}">
                <a16:creationId xmlns:a16="http://schemas.microsoft.com/office/drawing/2014/main" id="{0F77EB2C-BEB4-E1A4-AA3C-88563A40CF67}"/>
              </a:ext>
            </a:extLst>
          </p:cNvPr>
          <p:cNvSpPr/>
          <p:nvPr/>
        </p:nvSpPr>
        <p:spPr>
          <a:xfrm rot="10800000">
            <a:off x="5233555" y="5062894"/>
            <a:ext cx="1724890" cy="270164"/>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34827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4" y="897386"/>
            <a:ext cx="11844375" cy="33645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ja-JP" sz="2400" dirty="0"/>
              <a:t>Git</a:t>
            </a:r>
            <a:r>
              <a:rPr lang="ja-JP" altLang="en-US" sz="2400"/>
              <a:t>では、ファイルの状態を好きなときに変更履歴として保存ができる。</a:t>
            </a:r>
            <a:endParaRPr lang="en-US" altLang="ja-JP" sz="2400" dirty="0"/>
          </a:p>
          <a:p>
            <a:pPr marL="800100" lvl="1" indent="-342900">
              <a:lnSpc>
                <a:spcPct val="150000"/>
              </a:lnSpc>
              <a:buFont typeface="システムフォント（レギュラー）"/>
              <a:buChar char="⎻"/>
            </a:pPr>
            <a:r>
              <a:rPr lang="ja-JP" altLang="en-US" sz="2400"/>
              <a:t>一度編集したファイルを過去の状態に戻すことができる。</a:t>
            </a:r>
            <a:endParaRPr lang="en-US" altLang="ja-JP" sz="2400" dirty="0"/>
          </a:p>
          <a:p>
            <a:pPr marL="800100" lvl="1" indent="-342900">
              <a:lnSpc>
                <a:spcPct val="150000"/>
              </a:lnSpc>
              <a:buFont typeface="システムフォント（レギュラー）"/>
              <a:buChar char="⎻"/>
            </a:pPr>
            <a:r>
              <a:rPr lang="ja-JP" altLang="en-US" sz="2400"/>
              <a:t>編集箇所の差分を表示できる。</a:t>
            </a:r>
            <a:endParaRPr lang="en-US" altLang="ja-JP" sz="2400" dirty="0"/>
          </a:p>
          <a:p>
            <a:pPr marL="342900" indent="-342900">
              <a:lnSpc>
                <a:spcPct val="150000"/>
              </a:lnSpc>
              <a:buFont typeface="Arial" panose="020B0604020202020204" pitchFamily="34" charset="0"/>
              <a:buChar char="•"/>
            </a:pPr>
            <a:r>
              <a:rPr lang="ja-JP" altLang="en-US" sz="2400"/>
              <a:t>古いファイルを元に編集を行った後に、他人が編集した最新ファイルを　　　　　　　　　　上書きする際には警告が出る。</a:t>
            </a:r>
            <a:endParaRPr lang="en-US" altLang="ja-JP" sz="2400" dirty="0"/>
          </a:p>
          <a:p>
            <a:pPr marL="800100" lvl="1" indent="-342900">
              <a:lnSpc>
                <a:spcPct val="150000"/>
              </a:lnSpc>
              <a:buFont typeface="システムフォント（レギュラー）"/>
              <a:buChar char="⎻"/>
            </a:pPr>
            <a:r>
              <a:rPr lang="ja-JP" altLang="en-US" sz="2400"/>
              <a:t>知らず知らずのうちに他人の編集内容を上書きするといった失敗は起きない。</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en-US" altLang="ja-JP" sz="4400" dirty="0"/>
              <a:t>Git</a:t>
            </a:r>
            <a:r>
              <a:rPr kumimoji="1" lang="ja-JP" altLang="en-US" sz="4400"/>
              <a:t>を使ったバージョン管理</a:t>
            </a:r>
          </a:p>
        </p:txBody>
      </p:sp>
      <p:pic>
        <p:nvPicPr>
          <p:cNvPr id="2050" name="Picture 2">
            <a:extLst>
              <a:ext uri="{FF2B5EF4-FFF2-40B4-BE49-F238E27FC236}">
                <a16:creationId xmlns:a16="http://schemas.microsoft.com/office/drawing/2014/main" id="{A17019F4-4F4D-2344-727C-D65E86E50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1001" y="4261897"/>
            <a:ext cx="6261100"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525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17025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リポジトリ</a:t>
            </a:r>
            <a:r>
              <a:rPr kumimoji="1" lang="ja-JP" altLang="en-US" sz="2400"/>
              <a:t>とは、ファイルやディレクトリの状態を記録する場所。</a:t>
            </a:r>
          </a:p>
          <a:p>
            <a:pPr marL="800100" lvl="1" indent="-342900">
              <a:lnSpc>
                <a:spcPct val="150000"/>
              </a:lnSpc>
              <a:buFont typeface="システムフォント（レギュラー）"/>
              <a:buChar char="⎻"/>
            </a:pPr>
            <a:r>
              <a:rPr lang="ja-JP" altLang="en-US" sz="2400"/>
              <a:t>変更履歴を管理したいディレクトリを、リポジトリの管理下に置くことで、そのディレクトリ内の変更履歴を記録できる。</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lang="ja-JP" altLang="en-US" sz="4400"/>
              <a:t>履歴を管理するリポジトリ</a:t>
            </a:r>
            <a:endParaRPr kumimoji="1" lang="ja-JP" altLang="en-US" sz="4400"/>
          </a:p>
        </p:txBody>
      </p:sp>
      <p:pic>
        <p:nvPicPr>
          <p:cNvPr id="3074" name="Picture 2">
            <a:extLst>
              <a:ext uri="{FF2B5EF4-FFF2-40B4-BE49-F238E27FC236}">
                <a16:creationId xmlns:a16="http://schemas.microsoft.com/office/drawing/2014/main" id="{E83E4DD5-7D51-B903-89D8-636E93216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0" y="2819400"/>
            <a:ext cx="46355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56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22565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リモートリポジトリ</a:t>
            </a:r>
            <a:r>
              <a:rPr kumimoji="1" lang="ja-JP" altLang="en-US" sz="2400"/>
              <a:t>とは、専用のサーバに配置して複数人で共有するための</a:t>
            </a:r>
            <a:r>
              <a:rPr kumimoji="1" lang="en-US" altLang="ja-JP" sz="2400" dirty="0"/>
              <a:t>          </a:t>
            </a:r>
            <a:r>
              <a:rPr kumimoji="1" lang="ja-JP" altLang="en-US" sz="2400"/>
              <a:t>リポジトリのこと。（＝</a:t>
            </a:r>
            <a:r>
              <a:rPr kumimoji="1" lang="ja-JP" altLang="en-US" sz="2400" u="sng">
                <a:uFill>
                  <a:solidFill>
                    <a:srgbClr val="FF0000"/>
                  </a:solidFill>
                </a:uFill>
              </a:rPr>
              <a:t>離れたところにあるリポジトリ</a:t>
            </a:r>
            <a:r>
              <a:rPr kumimoji="1" lang="ja-JP" altLang="en-US" sz="2400"/>
              <a:t>）</a:t>
            </a:r>
            <a:endParaRPr kumimoji="1" lang="en-US" altLang="ja-JP" sz="2400" dirty="0"/>
          </a:p>
          <a:p>
            <a:pPr marL="342900" indent="-342900">
              <a:lnSpc>
                <a:spcPct val="150000"/>
              </a:lnSpc>
              <a:buFont typeface="Arial" panose="020B0604020202020204" pitchFamily="34" charset="0"/>
              <a:buChar char="•"/>
            </a:pPr>
            <a:r>
              <a:rPr lang="ja-JP" altLang="en-US" sz="2400"/>
              <a:t>ローカルリポジトリとは、ユーザ</a:t>
            </a:r>
            <a:r>
              <a:rPr lang="en-US" altLang="ja-JP" sz="2400" dirty="0"/>
              <a:t>1</a:t>
            </a:r>
            <a:r>
              <a:rPr lang="ja-JP" altLang="en-US" sz="2400"/>
              <a:t>人ひとりが利用するために、自分の手元に</a:t>
            </a:r>
            <a:r>
              <a:rPr lang="en-US" altLang="ja-JP" sz="2400" dirty="0"/>
              <a:t>        </a:t>
            </a:r>
            <a:r>
              <a:rPr lang="ja-JP" altLang="en-US" sz="2400"/>
              <a:t>配置するリポジトリのこと。（＝</a:t>
            </a:r>
            <a:r>
              <a:rPr lang="ja-JP" altLang="en-US" sz="2400" u="sng">
                <a:uFill>
                  <a:solidFill>
                    <a:srgbClr val="FF0000"/>
                  </a:solidFill>
                </a:uFill>
              </a:rPr>
              <a:t>手元にあるリポジトリ</a:t>
            </a:r>
            <a:r>
              <a:rPr lang="ja-JP" altLang="en-US" sz="2400"/>
              <a:t>）</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2111075" cy="769441"/>
          </a:xfrm>
          <a:prstGeom prst="rect">
            <a:avLst/>
          </a:prstGeom>
          <a:noFill/>
        </p:spPr>
        <p:txBody>
          <a:bodyPr wrap="square" rtlCol="0">
            <a:spAutoFit/>
          </a:bodyPr>
          <a:lstStyle/>
          <a:p>
            <a:r>
              <a:rPr lang="ja-JP" altLang="en-US" sz="4400"/>
              <a:t>履歴を管理するリポジトリ</a:t>
            </a:r>
            <a:endParaRPr kumimoji="1" lang="ja-JP" altLang="en-US" sz="4400"/>
          </a:p>
        </p:txBody>
      </p:sp>
    </p:spTree>
    <p:extLst>
      <p:ext uri="{BB962C8B-B14F-4D97-AF65-F5344CB8AC3E}">
        <p14:creationId xmlns:p14="http://schemas.microsoft.com/office/powerpoint/2010/main" val="1832491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22565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普段の作業はローカルリポジトリを使用し全て手元の</a:t>
            </a:r>
            <a:r>
              <a:rPr lang="en-US" altLang="ja-JP" sz="2400" dirty="0"/>
              <a:t>PC</a:t>
            </a:r>
            <a:r>
              <a:rPr lang="ja-JP" altLang="en-US" sz="2400"/>
              <a:t>で行う。</a:t>
            </a:r>
            <a:endParaRPr lang="en-US" altLang="ja-JP" sz="2400" dirty="0"/>
          </a:p>
          <a:p>
            <a:pPr marL="342900" indent="-342900">
              <a:lnSpc>
                <a:spcPct val="150000"/>
              </a:lnSpc>
              <a:buFont typeface="Arial" panose="020B0604020202020204" pitchFamily="34" charset="0"/>
              <a:buChar char="•"/>
            </a:pPr>
            <a:r>
              <a:rPr lang="ja-JP" altLang="en-US" sz="2400"/>
              <a:t>自分のローカルリポジトリで作業した内容を公開する際に、　　　　　　　　　　リモートリポジトリにアップして公開する。</a:t>
            </a:r>
            <a:endParaRPr lang="en-US" altLang="ja-JP" sz="2400" dirty="0"/>
          </a:p>
          <a:p>
            <a:pPr marL="342900" indent="-342900">
              <a:lnSpc>
                <a:spcPct val="150000"/>
              </a:lnSpc>
              <a:buFont typeface="Arial" panose="020B0604020202020204" pitchFamily="34" charset="0"/>
              <a:buChar char="•"/>
            </a:pPr>
            <a:r>
              <a:rPr lang="ja-JP" altLang="en-US" sz="2400"/>
              <a:t>リモートリポジトリからは、他人の作業内容を取得することもできる。</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2111075" cy="769441"/>
          </a:xfrm>
          <a:prstGeom prst="rect">
            <a:avLst/>
          </a:prstGeom>
          <a:noFill/>
        </p:spPr>
        <p:txBody>
          <a:bodyPr wrap="square" rtlCol="0">
            <a:spAutoFit/>
          </a:bodyPr>
          <a:lstStyle/>
          <a:p>
            <a:r>
              <a:rPr lang="ja-JP" altLang="en-US" sz="4400"/>
              <a:t>履歴を管理するリポジトリ</a:t>
            </a:r>
            <a:endParaRPr kumimoji="1" lang="ja-JP" altLang="en-US" sz="4400"/>
          </a:p>
        </p:txBody>
      </p:sp>
      <p:pic>
        <p:nvPicPr>
          <p:cNvPr id="4098" name="Picture 2">
            <a:extLst>
              <a:ext uri="{FF2B5EF4-FFF2-40B4-BE49-F238E27FC236}">
                <a16:creationId xmlns:a16="http://schemas.microsoft.com/office/drawing/2014/main" id="{77CF7D33-2C07-5A04-DB52-43BCAF7FB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5100" y="3269936"/>
            <a:ext cx="5941799" cy="3504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100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33645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ローカルリポジトリの作成方法は２つある。</a:t>
            </a:r>
            <a:endParaRPr lang="en-US" altLang="ja-JP" sz="2400" dirty="0"/>
          </a:p>
          <a:p>
            <a:pPr marL="914400" lvl="1" indent="-457200">
              <a:lnSpc>
                <a:spcPct val="150000"/>
              </a:lnSpc>
              <a:buFont typeface="+mj-lt"/>
              <a:buAutoNum type="arabicPeriod"/>
            </a:pPr>
            <a:r>
              <a:rPr lang="ja-JP" altLang="en-US" sz="2400"/>
              <a:t>全く新しいリポジトリを作る方法</a:t>
            </a:r>
            <a:endParaRPr lang="en-US" altLang="ja-JP" sz="2400" dirty="0"/>
          </a:p>
          <a:p>
            <a:pPr marL="914400" lvl="1" indent="-457200">
              <a:lnSpc>
                <a:spcPct val="150000"/>
              </a:lnSpc>
              <a:buFont typeface="+mj-lt"/>
              <a:buAutoNum type="arabicPeriod"/>
            </a:pPr>
            <a:endParaRPr lang="en-US" altLang="ja-JP" sz="2400" dirty="0"/>
          </a:p>
          <a:p>
            <a:pPr marL="914400" lvl="1" indent="-457200">
              <a:lnSpc>
                <a:spcPct val="150000"/>
              </a:lnSpc>
              <a:buFont typeface="+mj-lt"/>
              <a:buAutoNum type="arabicPeriod"/>
            </a:pPr>
            <a:endParaRPr lang="en-US" altLang="ja-JP" sz="2400" dirty="0"/>
          </a:p>
          <a:p>
            <a:pPr marL="914400" lvl="1" indent="-457200">
              <a:lnSpc>
                <a:spcPct val="150000"/>
              </a:lnSpc>
              <a:buFont typeface="+mj-lt"/>
              <a:buAutoNum type="arabicPeriod"/>
            </a:pPr>
            <a:endParaRPr lang="en-US" altLang="ja-JP" sz="2400" dirty="0"/>
          </a:p>
          <a:p>
            <a:pPr marL="914400" lvl="1" indent="-457200">
              <a:lnSpc>
                <a:spcPct val="150000"/>
              </a:lnSpc>
              <a:buFont typeface="+mj-lt"/>
              <a:buAutoNum type="arabicPeriod"/>
            </a:pPr>
            <a:r>
              <a:rPr lang="ja-JP" altLang="en-US" sz="2400"/>
              <a:t>リモートリポジトリをコピーして作る方法</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2111075" cy="769441"/>
          </a:xfrm>
          <a:prstGeom prst="rect">
            <a:avLst/>
          </a:prstGeom>
          <a:noFill/>
        </p:spPr>
        <p:txBody>
          <a:bodyPr wrap="square" rtlCol="0">
            <a:spAutoFit/>
          </a:bodyPr>
          <a:lstStyle/>
          <a:p>
            <a:r>
              <a:rPr lang="ja-JP" altLang="en-US" sz="4400"/>
              <a:t>履歴を管理するリポジトリ</a:t>
            </a:r>
            <a:endParaRPr kumimoji="1" lang="ja-JP" altLang="en-US" sz="4400"/>
          </a:p>
        </p:txBody>
      </p:sp>
      <p:pic>
        <p:nvPicPr>
          <p:cNvPr id="7170" name="Picture 2">
            <a:extLst>
              <a:ext uri="{FF2B5EF4-FFF2-40B4-BE49-F238E27FC236}">
                <a16:creationId xmlns:a16="http://schemas.microsoft.com/office/drawing/2014/main" id="{E0C50896-EC64-C398-F636-F47E92E2E3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8340" b="-4958"/>
          <a:stretch/>
        </p:blipFill>
        <p:spPr bwMode="auto">
          <a:xfrm>
            <a:off x="7158181" y="1699877"/>
            <a:ext cx="2370282" cy="17595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6F3EC14-D7FB-90CF-C9D2-91E94E8860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930" b="-4971"/>
          <a:stretch/>
        </p:blipFill>
        <p:spPr bwMode="auto">
          <a:xfrm>
            <a:off x="7158181" y="4617028"/>
            <a:ext cx="2962563" cy="1759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991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4" y="897386"/>
            <a:ext cx="11844375" cy="558050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コミットとは、ファイルやディレクトリの追加・変更を、　　　　　　　　　　　リポジトリに記録する操作のこと。</a:t>
            </a:r>
            <a:endParaRPr lang="en-US" altLang="ja-JP" sz="2400" dirty="0"/>
          </a:p>
          <a:p>
            <a:pPr marL="342900" indent="-342900">
              <a:lnSpc>
                <a:spcPct val="150000"/>
              </a:lnSpc>
              <a:buFont typeface="Arial" panose="020B0604020202020204" pitchFamily="34" charset="0"/>
              <a:buChar char="•"/>
            </a:pPr>
            <a:r>
              <a:rPr lang="ja-JP" altLang="en-US" sz="2400"/>
              <a:t>コミットを実行すると、前回コミット実行時との差分を持つコミットが作成される。</a:t>
            </a: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a:lnSpc>
                <a:spcPct val="150000"/>
              </a:lnSpc>
            </a:pPr>
            <a:endParaRPr lang="en-US" altLang="ja-JP" sz="2400" dirty="0"/>
          </a:p>
          <a:p>
            <a:pPr marL="342900" indent="-342900">
              <a:lnSpc>
                <a:spcPct val="150000"/>
              </a:lnSpc>
              <a:buFont typeface="Arial" panose="020B0604020202020204" pitchFamily="34" charset="0"/>
              <a:buChar char="•"/>
            </a:pPr>
            <a:r>
              <a:rPr lang="ja-JP" altLang="en-US" sz="2400"/>
              <a:t>コミット実行時には、コミットメッセージの入力を求められる。</a:t>
            </a:r>
            <a:endParaRPr lang="en-US" altLang="ja-JP" sz="2400" dirty="0"/>
          </a:p>
          <a:p>
            <a:pPr marL="800100" lvl="1" indent="-342900">
              <a:lnSpc>
                <a:spcPct val="150000"/>
              </a:lnSpc>
              <a:buFont typeface="システムフォント（レギュラー）"/>
              <a:buChar char="⎻"/>
            </a:pPr>
            <a:r>
              <a:rPr lang="ja-JP" altLang="en-US" sz="2400"/>
              <a:t>どんな変更および修正を行なったかのメモ</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lang="ja-JP" altLang="en-US" sz="4400"/>
              <a:t>変更を記録するコミット</a:t>
            </a:r>
            <a:endParaRPr kumimoji="1" lang="ja-JP" altLang="en-US" sz="4400"/>
          </a:p>
        </p:txBody>
      </p:sp>
      <p:pic>
        <p:nvPicPr>
          <p:cNvPr id="8194" name="Picture 2">
            <a:extLst>
              <a:ext uri="{FF2B5EF4-FFF2-40B4-BE49-F238E27FC236}">
                <a16:creationId xmlns:a16="http://schemas.microsoft.com/office/drawing/2014/main" id="{949C6516-0B54-A736-D99F-37FEECA20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863" y="2599329"/>
            <a:ext cx="7402273" cy="23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435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50265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実際に、手元で作業をするディレクトリのことをワークツリーと呼ぶ。</a:t>
            </a:r>
            <a:endParaRPr lang="en-US" altLang="ja-JP" sz="2400" dirty="0"/>
          </a:p>
          <a:p>
            <a:pPr marL="342900" indent="-342900">
              <a:lnSpc>
                <a:spcPct val="150000"/>
              </a:lnSpc>
              <a:buFont typeface="Arial" panose="020B0604020202020204" pitchFamily="34" charset="0"/>
              <a:buChar char="•"/>
            </a:pPr>
            <a:r>
              <a:rPr lang="ja-JP" altLang="en-US" sz="2400"/>
              <a:t>コミットにより、リポジトリにワークツリーの内容を記録していくが、　　　　　　　　　　　　　　　　　　　　　リポジトリとワークツリーの間にはインデックスというものが存在する。</a:t>
            </a: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marL="342900" indent="-342900">
              <a:lnSpc>
                <a:spcPct val="150000"/>
              </a:lnSpc>
              <a:buFont typeface="Arial" panose="020B0604020202020204" pitchFamily="34" charset="0"/>
              <a:buChar char="•"/>
            </a:pPr>
            <a:endParaRPr lang="en-US" altLang="ja-JP" sz="2400" dirty="0"/>
          </a:p>
          <a:p>
            <a:pPr>
              <a:lnSpc>
                <a:spcPct val="150000"/>
              </a:lnSpc>
            </a:pP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ja-JP" altLang="en-US" sz="4400"/>
              <a:t>ワークツリーとインデックス</a:t>
            </a:r>
          </a:p>
        </p:txBody>
      </p:sp>
      <p:pic>
        <p:nvPicPr>
          <p:cNvPr id="9218" name="Picture 2">
            <a:extLst>
              <a:ext uri="{FF2B5EF4-FFF2-40B4-BE49-F238E27FC236}">
                <a16:creationId xmlns:a16="http://schemas.microsoft.com/office/drawing/2014/main" id="{7F54A06F-787D-A804-C37C-374F5A2BF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868" y="3118986"/>
            <a:ext cx="7257366" cy="333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22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22565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ja-JP" altLang="en-US" sz="2400"/>
              <a:t>インデックスとは、リポジトリにコミットする準備をするための場所</a:t>
            </a:r>
            <a:endParaRPr lang="en-US" altLang="ja-JP" sz="2400" dirty="0"/>
          </a:p>
          <a:p>
            <a:pPr marL="342900" indent="-342900">
              <a:lnSpc>
                <a:spcPct val="150000"/>
              </a:lnSpc>
              <a:buFont typeface="Arial" panose="020B0604020202020204" pitchFamily="34" charset="0"/>
              <a:buChar char="•"/>
            </a:pPr>
            <a:r>
              <a:rPr lang="ja-JP" altLang="en-US" sz="2400"/>
              <a:t>インデックスを挟むことには次のような意味がある。</a:t>
            </a:r>
            <a:endParaRPr lang="en-US" altLang="ja-JP" sz="2400" dirty="0"/>
          </a:p>
          <a:p>
            <a:pPr marL="800100" lvl="1" indent="-342900">
              <a:lnSpc>
                <a:spcPct val="150000"/>
              </a:lnSpc>
              <a:buFont typeface="システムフォント（レギュラー）"/>
              <a:buChar char="⎻"/>
            </a:pPr>
            <a:r>
              <a:rPr lang="ja-JP" altLang="en-US" sz="2400"/>
              <a:t>ワークツリー内にある必要ないファイルを含めずにコミットできる</a:t>
            </a:r>
            <a:endParaRPr lang="en-US" altLang="ja-JP" sz="2400" dirty="0"/>
          </a:p>
          <a:p>
            <a:pPr marL="800100" lvl="1" indent="-342900">
              <a:lnSpc>
                <a:spcPct val="150000"/>
              </a:lnSpc>
              <a:buFont typeface="システムフォント（レギュラー）"/>
              <a:buChar char="⎻"/>
            </a:pPr>
            <a:r>
              <a:rPr lang="ja-JP" altLang="en-US" sz="2400"/>
              <a:t>ファイルの一部分の変更だけをインデックスに登録してコミットできる。</a:t>
            </a:r>
            <a:endParaRPr lang="en-US" altLang="ja-JP" sz="2400" dirty="0"/>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ja-JP" altLang="en-US" sz="4400"/>
              <a:t>ワークツリーとインデックス</a:t>
            </a:r>
          </a:p>
        </p:txBody>
      </p:sp>
      <p:pic>
        <p:nvPicPr>
          <p:cNvPr id="3" name="Picture 2">
            <a:extLst>
              <a:ext uri="{FF2B5EF4-FFF2-40B4-BE49-F238E27FC236}">
                <a16:creationId xmlns:a16="http://schemas.microsoft.com/office/drawing/2014/main" id="{2D782C49-4F59-7AFB-1E0B-C55D8A27F3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868" y="3118986"/>
            <a:ext cx="7257366" cy="333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181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3952751-3A89-C8BD-1F18-1ED4EDB588FE}"/>
              </a:ext>
            </a:extLst>
          </p:cNvPr>
          <p:cNvSpPr txBox="1"/>
          <p:nvPr/>
        </p:nvSpPr>
        <p:spPr>
          <a:xfrm>
            <a:off x="347625" y="897386"/>
            <a:ext cx="11527852" cy="558050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ja-JP" sz="2400" dirty="0"/>
              <a:t>Git</a:t>
            </a:r>
            <a:r>
              <a:rPr kumimoji="1" lang="ja-JP" altLang="en-US" sz="2400"/>
              <a:t>とは、分散型バージョン管理システムの一つ。</a:t>
            </a:r>
            <a:endParaRPr kumimoji="1" lang="en-US" altLang="ja-JP" sz="2400" dirty="0"/>
          </a:p>
          <a:p>
            <a:pPr marL="800100" lvl="1" indent="-342900">
              <a:lnSpc>
                <a:spcPct val="150000"/>
              </a:lnSpc>
              <a:buFont typeface="システムフォント（レギュラー）"/>
              <a:buChar char="⎻"/>
            </a:pPr>
            <a:r>
              <a:rPr kumimoji="1" lang="ja-JP" altLang="en-US" sz="2400"/>
              <a:t>ざっくり言い換えると、</a:t>
            </a:r>
            <a:r>
              <a:rPr kumimoji="1" lang="ja-JP" altLang="en-US" sz="2400" u="sng">
                <a:uFill>
                  <a:solidFill>
                    <a:srgbClr val="FF0000"/>
                  </a:solidFill>
                </a:uFill>
              </a:rPr>
              <a:t>チームでシステムを開発する際にチーム間で　　　　　　　　　ソースコードを共有・編集するための</a:t>
            </a:r>
            <a:r>
              <a:rPr kumimoji="1" lang="ja-JP" altLang="en-US" sz="2400" u="sng">
                <a:solidFill>
                  <a:srgbClr val="FF0000"/>
                </a:solidFill>
              </a:rPr>
              <a:t>仕組み</a:t>
            </a:r>
            <a:r>
              <a:rPr kumimoji="1" lang="ja-JP" altLang="en-US" sz="2400"/>
              <a:t>のこと。</a:t>
            </a:r>
            <a:endParaRPr lang="en-US" altLang="ja-JP" sz="2400" dirty="0"/>
          </a:p>
          <a:p>
            <a:pPr marL="800100" lvl="1" indent="-342900">
              <a:lnSpc>
                <a:spcPct val="150000"/>
              </a:lnSpc>
              <a:buFont typeface="システムフォント（レギュラー）"/>
              <a:buChar char="⎻"/>
            </a:pPr>
            <a:r>
              <a:rPr kumimoji="1" lang="ja-JP" altLang="en-US" sz="2400"/>
              <a:t>チーム開発を行う上で避けては通れない必須ツールです。</a:t>
            </a:r>
          </a:p>
          <a:p>
            <a:pPr marL="342900" indent="-342900">
              <a:lnSpc>
                <a:spcPct val="150000"/>
              </a:lnSpc>
              <a:buFont typeface="Arial" panose="020B0604020202020204" pitchFamily="34" charset="0"/>
              <a:buChar char="•"/>
            </a:pPr>
            <a:r>
              <a:rPr lang="ja-JP" altLang="en-US" sz="2400"/>
              <a:t>本時で説明したことは、</a:t>
            </a:r>
            <a:r>
              <a:rPr lang="en-US" altLang="ja-JP" sz="2400" dirty="0"/>
              <a:t>Git</a:t>
            </a:r>
            <a:r>
              <a:rPr lang="ja-JP" altLang="en-US" sz="2400"/>
              <a:t>を学ぶ上でほんの入り口です。</a:t>
            </a:r>
            <a:endParaRPr lang="en-US" altLang="ja-JP" sz="2400" dirty="0"/>
          </a:p>
          <a:p>
            <a:pPr marL="342900" indent="-342900">
              <a:lnSpc>
                <a:spcPct val="150000"/>
              </a:lnSpc>
              <a:buFont typeface="Arial" panose="020B0604020202020204" pitchFamily="34" charset="0"/>
              <a:buChar char="•"/>
            </a:pPr>
            <a:r>
              <a:rPr lang="en-US" altLang="ja-JP" sz="2400" dirty="0"/>
              <a:t>Git</a:t>
            </a:r>
            <a:r>
              <a:rPr lang="ja-JP" altLang="en-US" sz="2400"/>
              <a:t>を学ぶには、実際に手を動かしてみるのが一番です。</a:t>
            </a:r>
            <a:endParaRPr lang="en-US" altLang="ja-JP" sz="2400" dirty="0"/>
          </a:p>
          <a:p>
            <a:pPr marL="342900" indent="-342900">
              <a:lnSpc>
                <a:spcPct val="150000"/>
              </a:lnSpc>
              <a:buFont typeface="Arial" panose="020B0604020202020204" pitchFamily="34" charset="0"/>
              <a:buChar char="•"/>
            </a:pPr>
            <a:r>
              <a:rPr lang="ja-JP" altLang="en-US" sz="2400"/>
              <a:t>サル先生の</a:t>
            </a:r>
            <a:r>
              <a:rPr lang="en-US" altLang="ja-JP" sz="2400" dirty="0"/>
              <a:t>Git</a:t>
            </a:r>
            <a:r>
              <a:rPr lang="ja-JP" altLang="en-US" sz="2400"/>
              <a:t>入門に続きがあるので、ぜひ手を動かしながら　　　　　　　　　　　　　　続きやってみてください。</a:t>
            </a:r>
            <a:r>
              <a:rPr lang="en-US" altLang="ja-JP" sz="2400" dirty="0"/>
              <a:t>(</a:t>
            </a:r>
            <a:r>
              <a:rPr lang="en-US" altLang="ja-JP" sz="2400" dirty="0">
                <a:hlinkClick r:id="rId2"/>
              </a:rPr>
              <a:t>https://backlog.com/ja/git-tutorial/intro/01/</a:t>
            </a:r>
            <a:r>
              <a:rPr lang="en-US" altLang="ja-JP" sz="2400" dirty="0"/>
              <a:t>)</a:t>
            </a:r>
          </a:p>
          <a:p>
            <a:pPr marL="342900" indent="-342900">
              <a:lnSpc>
                <a:spcPct val="150000"/>
              </a:lnSpc>
              <a:buFont typeface="Arial" panose="020B0604020202020204" pitchFamily="34" charset="0"/>
              <a:buChar char="•"/>
            </a:pPr>
            <a:r>
              <a:rPr lang="ja-JP" altLang="en-US" sz="2400"/>
              <a:t>個人的にはこの書籍がオススメです。</a:t>
            </a:r>
            <a:endParaRPr lang="en-US" altLang="ja-JP" sz="2400" dirty="0"/>
          </a:p>
          <a:p>
            <a:pPr marL="800100" lvl="1" indent="-342900">
              <a:lnSpc>
                <a:spcPct val="150000"/>
              </a:lnSpc>
              <a:buFont typeface="システムフォント（レギュラー）"/>
              <a:buChar char="⎻"/>
            </a:pPr>
            <a:r>
              <a:rPr lang="en-US" altLang="ja-JP" sz="2400" dirty="0"/>
              <a:t>GitHub</a:t>
            </a:r>
            <a:r>
              <a:rPr lang="ja-JP" altLang="en-US" sz="2400"/>
              <a:t>実践入門</a:t>
            </a:r>
            <a:r>
              <a:rPr lang="en-US" altLang="ja-JP" sz="2400" dirty="0"/>
              <a:t>-Pull Request</a:t>
            </a:r>
            <a:r>
              <a:rPr lang="ja-JP" altLang="en-US" sz="2400"/>
              <a:t>開発による開発の変革</a:t>
            </a:r>
            <a:r>
              <a:rPr lang="en-US" altLang="ja-JP" sz="2400" dirty="0"/>
              <a:t>-</a:t>
            </a:r>
          </a:p>
        </p:txBody>
      </p:sp>
      <p:sp>
        <p:nvSpPr>
          <p:cNvPr id="7" name="テキスト ボックス 6">
            <a:extLst>
              <a:ext uri="{FF2B5EF4-FFF2-40B4-BE49-F238E27FC236}">
                <a16:creationId xmlns:a16="http://schemas.microsoft.com/office/drawing/2014/main" id="{C4B68AE9-1B34-9A0C-A0B5-B134359F2FC2}"/>
              </a:ext>
            </a:extLst>
          </p:cNvPr>
          <p:cNvSpPr txBox="1"/>
          <p:nvPr/>
        </p:nvSpPr>
        <p:spPr>
          <a:xfrm>
            <a:off x="347625" y="127944"/>
            <a:ext cx="11066341" cy="769441"/>
          </a:xfrm>
          <a:prstGeom prst="rect">
            <a:avLst/>
          </a:prstGeom>
          <a:noFill/>
        </p:spPr>
        <p:txBody>
          <a:bodyPr wrap="square" rtlCol="0">
            <a:spAutoFit/>
          </a:bodyPr>
          <a:lstStyle/>
          <a:p>
            <a:r>
              <a:rPr kumimoji="1" lang="en-US" altLang="ja-JP" sz="4400" dirty="0"/>
              <a:t>Git</a:t>
            </a:r>
            <a:r>
              <a:rPr kumimoji="1" lang="ja-JP" altLang="en-US" sz="4400"/>
              <a:t>って何？（再掲）</a:t>
            </a:r>
          </a:p>
        </p:txBody>
      </p:sp>
    </p:spTree>
    <p:extLst>
      <p:ext uri="{BB962C8B-B14F-4D97-AF65-F5344CB8AC3E}">
        <p14:creationId xmlns:p14="http://schemas.microsoft.com/office/powerpoint/2010/main" val="1190585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B8CB2B-FF03-D664-CF85-8EBCD1F94C09}"/>
              </a:ext>
            </a:extLst>
          </p:cNvPr>
          <p:cNvSpPr>
            <a:spLocks noGrp="1"/>
          </p:cNvSpPr>
          <p:nvPr>
            <p:ph type="ctrTitle"/>
          </p:nvPr>
        </p:nvSpPr>
        <p:spPr>
          <a:xfrm>
            <a:off x="1524000" y="1810852"/>
            <a:ext cx="9144000" cy="2387600"/>
          </a:xfrm>
        </p:spPr>
        <p:txBody>
          <a:bodyPr anchor="ctr">
            <a:normAutofit/>
          </a:bodyPr>
          <a:lstStyle/>
          <a:p>
            <a:pPr>
              <a:lnSpc>
                <a:spcPct val="150000"/>
              </a:lnSpc>
            </a:pPr>
            <a:r>
              <a:rPr kumimoji="1" lang="en-US" altLang="ja-JP" dirty="0">
                <a:solidFill>
                  <a:schemeClr val="bg1"/>
                </a:solidFill>
              </a:rPr>
              <a:t>〜</a:t>
            </a:r>
            <a:r>
              <a:rPr kumimoji="1" lang="ja-JP" altLang="en-US">
                <a:solidFill>
                  <a:schemeClr val="bg1"/>
                </a:solidFill>
              </a:rPr>
              <a:t>おつかれさまでした</a:t>
            </a:r>
            <a:r>
              <a:rPr kumimoji="1" lang="en-US" altLang="ja-JP" dirty="0">
                <a:solidFill>
                  <a:schemeClr val="bg1"/>
                </a:solidFill>
              </a:rPr>
              <a:t>〜</a:t>
            </a:r>
            <a:endParaRPr kumimoji="1" lang="ja-JP" altLang="en-US">
              <a:solidFill>
                <a:schemeClr val="bg1"/>
              </a:solidFill>
            </a:endParaRPr>
          </a:p>
        </p:txBody>
      </p:sp>
      <p:sp>
        <p:nvSpPr>
          <p:cNvPr id="6" name="テキスト ボックス 5">
            <a:extLst>
              <a:ext uri="{FF2B5EF4-FFF2-40B4-BE49-F238E27FC236}">
                <a16:creationId xmlns:a16="http://schemas.microsoft.com/office/drawing/2014/main" id="{EAC305D7-1F38-76E4-AEA6-ED8C2D8B832E}"/>
              </a:ext>
            </a:extLst>
          </p:cNvPr>
          <p:cNvSpPr txBox="1"/>
          <p:nvPr/>
        </p:nvSpPr>
        <p:spPr>
          <a:xfrm>
            <a:off x="-1" y="87853"/>
            <a:ext cx="5400339" cy="830997"/>
          </a:xfrm>
          <a:prstGeom prst="rect">
            <a:avLst/>
          </a:prstGeom>
          <a:noFill/>
        </p:spPr>
        <p:txBody>
          <a:bodyPr wrap="square" rtlCol="0">
            <a:spAutoFit/>
          </a:bodyPr>
          <a:lstStyle/>
          <a:p>
            <a:r>
              <a:rPr lang="en-US" altLang="ja-JP" sz="2400" dirty="0"/>
              <a:t>2026</a:t>
            </a:r>
            <a:r>
              <a:rPr lang="ja-JP" altLang="en-US" sz="2400"/>
              <a:t>年度</a:t>
            </a:r>
            <a:r>
              <a:rPr lang="en-US" altLang="ja-JP" sz="2400" dirty="0"/>
              <a:t> NaCl </a:t>
            </a:r>
            <a:r>
              <a:rPr lang="ja-JP" altLang="en-US" sz="2400"/>
              <a:t>夏季インターンシップ</a:t>
            </a:r>
            <a:endParaRPr lang="en-US" altLang="ja-JP" sz="2400" dirty="0"/>
          </a:p>
          <a:p>
            <a:r>
              <a:rPr kumimoji="1" lang="ja-JP" altLang="en-US" sz="2400"/>
              <a:t>講義パート</a:t>
            </a:r>
            <a:endParaRPr kumimoji="1" lang="en-US" altLang="ja-JP" sz="2400" dirty="0"/>
          </a:p>
        </p:txBody>
      </p:sp>
    </p:spTree>
    <p:extLst>
      <p:ext uri="{BB962C8B-B14F-4D97-AF65-F5344CB8AC3E}">
        <p14:creationId xmlns:p14="http://schemas.microsoft.com/office/powerpoint/2010/main" val="23907046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10516</TotalTime>
  <Words>878</Words>
  <Application>Microsoft Macintosh PowerPoint</Application>
  <PresentationFormat>ワイド画面</PresentationFormat>
  <Paragraphs>85</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システムフォント（レギュラー）</vt:lpstr>
      <vt:lpstr>游ゴシック</vt:lpstr>
      <vt:lpstr>游ゴシック Light</vt:lpstr>
      <vt:lpstr>Arial</vt:lpstr>
      <vt:lpstr>Office テーマ</vt:lpstr>
      <vt:lpstr>Gitの基礎 ~サル先生に学ぶ~</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〜おつかれさまでした〜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加納 寛之</dc:creator>
  <cp:lastModifiedBy>加納 寛之</cp:lastModifiedBy>
  <cp:revision>73</cp:revision>
  <cp:lastPrinted>2024-09-02T23:27:27Z</cp:lastPrinted>
  <dcterms:created xsi:type="dcterms:W3CDTF">2023-07-25T02:45:02Z</dcterms:created>
  <dcterms:modified xsi:type="dcterms:W3CDTF">2026-08-17T23:25:07Z</dcterms:modified>
</cp:coreProperties>
</file>